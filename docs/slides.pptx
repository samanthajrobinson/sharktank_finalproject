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ileron Heavy" charset="1" panose="00000A00000000000000"/>
      <p:regular r:id="rId14"/>
    </p:embeddedFont>
    <p:embeddedFont>
      <p:font typeface="Work Sans" charset="1" panose="00000000000000000000"/>
      <p:regular r:id="rId15"/>
    </p:embeddedFont>
    <p:embeddedFont>
      <p:font typeface="Work Sans Bold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6446933" y="-19514"/>
            <a:ext cx="869053" cy="1860582"/>
            <a:chOff x="0" y="0"/>
            <a:chExt cx="228886" cy="4900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886" cy="490030"/>
            </a:xfrm>
            <a:custGeom>
              <a:avLst/>
              <a:gdLst/>
              <a:ahLst/>
              <a:cxnLst/>
              <a:rect r="r" b="b" t="t" l="l"/>
              <a:pathLst>
                <a:path h="490030" w="228886">
                  <a:moveTo>
                    <a:pt x="114443" y="0"/>
                  </a:moveTo>
                  <a:lnTo>
                    <a:pt x="114443" y="0"/>
                  </a:lnTo>
                  <a:cubicBezTo>
                    <a:pt x="144795" y="0"/>
                    <a:pt x="173904" y="12057"/>
                    <a:pt x="195367" y="33520"/>
                  </a:cubicBezTo>
                  <a:cubicBezTo>
                    <a:pt x="216829" y="54982"/>
                    <a:pt x="228886" y="84091"/>
                    <a:pt x="228886" y="114443"/>
                  </a:cubicBezTo>
                  <a:lnTo>
                    <a:pt x="228886" y="375587"/>
                  </a:lnTo>
                  <a:cubicBezTo>
                    <a:pt x="228886" y="405939"/>
                    <a:pt x="216829" y="435048"/>
                    <a:pt x="195367" y="456510"/>
                  </a:cubicBezTo>
                  <a:cubicBezTo>
                    <a:pt x="173904" y="477972"/>
                    <a:pt x="144795" y="490030"/>
                    <a:pt x="114443" y="490030"/>
                  </a:cubicBezTo>
                  <a:lnTo>
                    <a:pt x="114443" y="490030"/>
                  </a:lnTo>
                  <a:cubicBezTo>
                    <a:pt x="84091" y="490030"/>
                    <a:pt x="54982" y="477972"/>
                    <a:pt x="33520" y="456510"/>
                  </a:cubicBezTo>
                  <a:cubicBezTo>
                    <a:pt x="12057" y="435048"/>
                    <a:pt x="0" y="405939"/>
                    <a:pt x="0" y="375587"/>
                  </a:cubicBezTo>
                  <a:lnTo>
                    <a:pt x="0" y="114443"/>
                  </a:lnTo>
                  <a:cubicBezTo>
                    <a:pt x="0" y="84091"/>
                    <a:pt x="12057" y="54982"/>
                    <a:pt x="33520" y="33520"/>
                  </a:cubicBezTo>
                  <a:cubicBezTo>
                    <a:pt x="54982" y="12057"/>
                    <a:pt x="84091" y="0"/>
                    <a:pt x="114443" y="0"/>
                  </a:cubicBezTo>
                  <a:close/>
                </a:path>
              </a:pathLst>
            </a:custGeom>
            <a:ln w="9525" cap="rnd">
              <a:solidFill>
                <a:srgbClr val="1351A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8886" cy="499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6993" y="780815"/>
            <a:ext cx="18661325" cy="321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9"/>
              </a:lnSpc>
            </a:pPr>
            <a:r>
              <a:rPr lang="en-US" sz="24129" spc="-1327" b="tru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Shark Tank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1962" y="3292838"/>
            <a:ext cx="17524077" cy="321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4099"/>
              </a:lnSpc>
              <a:spcBef>
                <a:spcPct val="0"/>
              </a:spcBef>
            </a:pPr>
            <a:r>
              <a:rPr lang="en-US" b="true" sz="24099" spc="-1325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Final</a:t>
            </a:r>
            <a:r>
              <a:rPr lang="en-US" b="true" sz="24099" spc="-1325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59776" y="8792645"/>
            <a:ext cx="2851388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sz="2400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PRESENTED BY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59776" y="9196505"/>
            <a:ext cx="4699524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b="true" sz="2700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Samantha Robinson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44690" y="748851"/>
            <a:ext cx="1273538" cy="39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3000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63335" y="7478341"/>
            <a:ext cx="4588847" cy="907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31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CS 341</a:t>
            </a:r>
          </a:p>
          <a:p>
            <a:pPr algn="l" marL="0" indent="0" lvl="0">
              <a:lnSpc>
                <a:spcPts val="3519"/>
              </a:lnSpc>
            </a:pPr>
            <a:r>
              <a:rPr lang="en-US" sz="31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FITMATCH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250" y="4346510"/>
            <a:ext cx="8372906" cy="581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Table</a:t>
            </a:r>
          </a:p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of Contents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58188" y="588286"/>
            <a:ext cx="5261266" cy="1067513"/>
            <a:chOff x="0" y="0"/>
            <a:chExt cx="7015022" cy="1423351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7015022" cy="1423351"/>
              <a:chOff x="0" y="0"/>
              <a:chExt cx="1195732" cy="24261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95732" cy="242615"/>
              </a:xfrm>
              <a:custGeom>
                <a:avLst/>
                <a:gdLst/>
                <a:ahLst/>
                <a:cxnLst/>
                <a:rect r="r" b="b" t="t" l="l"/>
                <a:pathLst>
                  <a:path h="242615" w="1195732">
                    <a:moveTo>
                      <a:pt x="75046" y="0"/>
                    </a:moveTo>
                    <a:lnTo>
                      <a:pt x="1120686" y="0"/>
                    </a:lnTo>
                    <a:cubicBezTo>
                      <a:pt x="1140589" y="0"/>
                      <a:pt x="1159678" y="7907"/>
                      <a:pt x="1173751" y="21981"/>
                    </a:cubicBezTo>
                    <a:cubicBezTo>
                      <a:pt x="1187825" y="36054"/>
                      <a:pt x="1195732" y="55143"/>
                      <a:pt x="1195732" y="75046"/>
                    </a:cubicBezTo>
                    <a:lnTo>
                      <a:pt x="1195732" y="167568"/>
                    </a:lnTo>
                    <a:cubicBezTo>
                      <a:pt x="1195732" y="209015"/>
                      <a:pt x="1162133" y="242615"/>
                      <a:pt x="1120686" y="242615"/>
                    </a:cubicBezTo>
                    <a:lnTo>
                      <a:pt x="75046" y="242615"/>
                    </a:lnTo>
                    <a:cubicBezTo>
                      <a:pt x="33599" y="242615"/>
                      <a:pt x="0" y="209015"/>
                      <a:pt x="0" y="167568"/>
                    </a:cubicBezTo>
                    <a:lnTo>
                      <a:pt x="0" y="75046"/>
                    </a:lnTo>
                    <a:cubicBezTo>
                      <a:pt x="0" y="55143"/>
                      <a:pt x="7907" y="36054"/>
                      <a:pt x="21981" y="21981"/>
                    </a:cubicBezTo>
                    <a:cubicBezTo>
                      <a:pt x="36054" y="7907"/>
                      <a:pt x="55143" y="0"/>
                      <a:pt x="75046" y="0"/>
                    </a:cubicBezTo>
                    <a:close/>
                  </a:path>
                </a:pathLst>
              </a:custGeom>
              <a:ln w="9525" cap="rnd">
                <a:solidFill>
                  <a:srgbClr val="E3E2DE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9050"/>
                <a:ext cx="1195732" cy="2616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7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769596" y="407934"/>
              <a:ext cx="5475830" cy="655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3500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THE PROBLEM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58188" y="3082269"/>
            <a:ext cx="5261266" cy="1184230"/>
            <a:chOff x="0" y="0"/>
            <a:chExt cx="7015022" cy="1578974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015022" cy="1578974"/>
              <a:chOff x="0" y="0"/>
              <a:chExt cx="1195732" cy="26914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195732" cy="269141"/>
              </a:xfrm>
              <a:custGeom>
                <a:avLst/>
                <a:gdLst/>
                <a:ahLst/>
                <a:cxnLst/>
                <a:rect r="r" b="b" t="t" l="l"/>
                <a:pathLst>
                  <a:path h="269141" w="1195732">
                    <a:moveTo>
                      <a:pt x="75046" y="0"/>
                    </a:moveTo>
                    <a:lnTo>
                      <a:pt x="1120686" y="0"/>
                    </a:lnTo>
                    <a:cubicBezTo>
                      <a:pt x="1140589" y="0"/>
                      <a:pt x="1159678" y="7907"/>
                      <a:pt x="1173751" y="21981"/>
                    </a:cubicBezTo>
                    <a:cubicBezTo>
                      <a:pt x="1187825" y="36054"/>
                      <a:pt x="1195732" y="55143"/>
                      <a:pt x="1195732" y="75046"/>
                    </a:cubicBezTo>
                    <a:lnTo>
                      <a:pt x="1195732" y="194095"/>
                    </a:lnTo>
                    <a:cubicBezTo>
                      <a:pt x="1195732" y="213998"/>
                      <a:pt x="1187825" y="233087"/>
                      <a:pt x="1173751" y="247160"/>
                    </a:cubicBezTo>
                    <a:cubicBezTo>
                      <a:pt x="1159678" y="261234"/>
                      <a:pt x="1140589" y="269141"/>
                      <a:pt x="1120686" y="269141"/>
                    </a:cubicBezTo>
                    <a:lnTo>
                      <a:pt x="75046" y="269141"/>
                    </a:lnTo>
                    <a:cubicBezTo>
                      <a:pt x="33599" y="269141"/>
                      <a:pt x="0" y="235542"/>
                      <a:pt x="0" y="194095"/>
                    </a:cubicBezTo>
                    <a:lnTo>
                      <a:pt x="0" y="75046"/>
                    </a:lnTo>
                    <a:cubicBezTo>
                      <a:pt x="0" y="55143"/>
                      <a:pt x="7907" y="36054"/>
                      <a:pt x="21981" y="21981"/>
                    </a:cubicBezTo>
                    <a:cubicBezTo>
                      <a:pt x="36054" y="7907"/>
                      <a:pt x="55143" y="0"/>
                      <a:pt x="75046" y="0"/>
                    </a:cubicBezTo>
                    <a:close/>
                  </a:path>
                </a:pathLst>
              </a:custGeom>
              <a:ln w="9525" cap="rnd">
                <a:solidFill>
                  <a:srgbClr val="E3E2DE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1195732" cy="28819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7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45446" y="485745"/>
              <a:ext cx="6524129" cy="655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3500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PRODUCT FEATURES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8631164"/>
            <a:ext cx="5261266" cy="1067550"/>
            <a:chOff x="0" y="0"/>
            <a:chExt cx="7015022" cy="142340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7015022" cy="1423401"/>
              <a:chOff x="0" y="0"/>
              <a:chExt cx="1195732" cy="24262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95732" cy="242623"/>
              </a:xfrm>
              <a:custGeom>
                <a:avLst/>
                <a:gdLst/>
                <a:ahLst/>
                <a:cxnLst/>
                <a:rect r="r" b="b" t="t" l="l"/>
                <a:pathLst>
                  <a:path h="242623" w="1195732">
                    <a:moveTo>
                      <a:pt x="75046" y="0"/>
                    </a:moveTo>
                    <a:lnTo>
                      <a:pt x="1120686" y="0"/>
                    </a:lnTo>
                    <a:cubicBezTo>
                      <a:pt x="1140589" y="0"/>
                      <a:pt x="1159678" y="7907"/>
                      <a:pt x="1173751" y="21981"/>
                    </a:cubicBezTo>
                    <a:cubicBezTo>
                      <a:pt x="1187825" y="36054"/>
                      <a:pt x="1195732" y="55143"/>
                      <a:pt x="1195732" y="75046"/>
                    </a:cubicBezTo>
                    <a:lnTo>
                      <a:pt x="1195732" y="167577"/>
                    </a:lnTo>
                    <a:cubicBezTo>
                      <a:pt x="1195732" y="209024"/>
                      <a:pt x="1162133" y="242623"/>
                      <a:pt x="1120686" y="242623"/>
                    </a:cubicBezTo>
                    <a:lnTo>
                      <a:pt x="75046" y="242623"/>
                    </a:lnTo>
                    <a:cubicBezTo>
                      <a:pt x="55143" y="242623"/>
                      <a:pt x="36054" y="234716"/>
                      <a:pt x="21981" y="220642"/>
                    </a:cubicBezTo>
                    <a:cubicBezTo>
                      <a:pt x="7907" y="206569"/>
                      <a:pt x="0" y="187480"/>
                      <a:pt x="0" y="167577"/>
                    </a:cubicBezTo>
                    <a:lnTo>
                      <a:pt x="0" y="75046"/>
                    </a:lnTo>
                    <a:cubicBezTo>
                      <a:pt x="0" y="55143"/>
                      <a:pt x="7907" y="36054"/>
                      <a:pt x="21981" y="21981"/>
                    </a:cubicBezTo>
                    <a:cubicBezTo>
                      <a:pt x="36054" y="7907"/>
                      <a:pt x="55143" y="0"/>
                      <a:pt x="75046" y="0"/>
                    </a:cubicBezTo>
                    <a:close/>
                  </a:path>
                </a:pathLst>
              </a:custGeom>
              <a:ln w="9525" cap="rnd">
                <a:solidFill>
                  <a:srgbClr val="E3E2DE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195732" cy="2616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7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70522" y="407959"/>
              <a:ext cx="5873977" cy="655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3500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DEMO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364517" y="7382639"/>
            <a:ext cx="5261266" cy="1067550"/>
            <a:chOff x="0" y="0"/>
            <a:chExt cx="7015022" cy="1423401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7015022" cy="1423401"/>
              <a:chOff x="0" y="0"/>
              <a:chExt cx="1195732" cy="24262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195732" cy="242623"/>
              </a:xfrm>
              <a:custGeom>
                <a:avLst/>
                <a:gdLst/>
                <a:ahLst/>
                <a:cxnLst/>
                <a:rect r="r" b="b" t="t" l="l"/>
                <a:pathLst>
                  <a:path h="242623" w="1195732">
                    <a:moveTo>
                      <a:pt x="75046" y="0"/>
                    </a:moveTo>
                    <a:lnTo>
                      <a:pt x="1120686" y="0"/>
                    </a:lnTo>
                    <a:cubicBezTo>
                      <a:pt x="1140589" y="0"/>
                      <a:pt x="1159678" y="7907"/>
                      <a:pt x="1173751" y="21981"/>
                    </a:cubicBezTo>
                    <a:cubicBezTo>
                      <a:pt x="1187825" y="36054"/>
                      <a:pt x="1195732" y="55143"/>
                      <a:pt x="1195732" y="75046"/>
                    </a:cubicBezTo>
                    <a:lnTo>
                      <a:pt x="1195732" y="167577"/>
                    </a:lnTo>
                    <a:cubicBezTo>
                      <a:pt x="1195732" y="209024"/>
                      <a:pt x="1162133" y="242623"/>
                      <a:pt x="1120686" y="242623"/>
                    </a:cubicBezTo>
                    <a:lnTo>
                      <a:pt x="75046" y="242623"/>
                    </a:lnTo>
                    <a:cubicBezTo>
                      <a:pt x="55143" y="242623"/>
                      <a:pt x="36054" y="234716"/>
                      <a:pt x="21981" y="220642"/>
                    </a:cubicBezTo>
                    <a:cubicBezTo>
                      <a:pt x="7907" y="206569"/>
                      <a:pt x="0" y="187480"/>
                      <a:pt x="0" y="167577"/>
                    </a:cubicBezTo>
                    <a:lnTo>
                      <a:pt x="0" y="75046"/>
                    </a:lnTo>
                    <a:cubicBezTo>
                      <a:pt x="0" y="55143"/>
                      <a:pt x="7907" y="36054"/>
                      <a:pt x="21981" y="21981"/>
                    </a:cubicBezTo>
                    <a:cubicBezTo>
                      <a:pt x="36054" y="7907"/>
                      <a:pt x="55143" y="0"/>
                      <a:pt x="75046" y="0"/>
                    </a:cubicBezTo>
                    <a:close/>
                  </a:path>
                </a:pathLst>
              </a:custGeom>
              <a:ln w="9525" cap="rnd">
                <a:solidFill>
                  <a:srgbClr val="E3E2DE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1195732" cy="2616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7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407959"/>
              <a:ext cx="7015022" cy="655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3500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CONCLUSION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64517" y="4447475"/>
            <a:ext cx="5261266" cy="1505700"/>
            <a:chOff x="0" y="0"/>
            <a:chExt cx="7015022" cy="2007601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7015022" cy="2007601"/>
              <a:chOff x="0" y="0"/>
              <a:chExt cx="1195732" cy="34220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95732" cy="342202"/>
              </a:xfrm>
              <a:custGeom>
                <a:avLst/>
                <a:gdLst/>
                <a:ahLst/>
                <a:cxnLst/>
                <a:rect r="r" b="b" t="t" l="l"/>
                <a:pathLst>
                  <a:path h="342202" w="1195732">
                    <a:moveTo>
                      <a:pt x="75046" y="0"/>
                    </a:moveTo>
                    <a:lnTo>
                      <a:pt x="1120686" y="0"/>
                    </a:lnTo>
                    <a:cubicBezTo>
                      <a:pt x="1140589" y="0"/>
                      <a:pt x="1159678" y="7907"/>
                      <a:pt x="1173751" y="21981"/>
                    </a:cubicBezTo>
                    <a:cubicBezTo>
                      <a:pt x="1187825" y="36054"/>
                      <a:pt x="1195732" y="55143"/>
                      <a:pt x="1195732" y="75046"/>
                    </a:cubicBezTo>
                    <a:lnTo>
                      <a:pt x="1195732" y="267155"/>
                    </a:lnTo>
                    <a:cubicBezTo>
                      <a:pt x="1195732" y="287059"/>
                      <a:pt x="1187825" y="306147"/>
                      <a:pt x="1173751" y="320221"/>
                    </a:cubicBezTo>
                    <a:cubicBezTo>
                      <a:pt x="1159678" y="334295"/>
                      <a:pt x="1140589" y="342202"/>
                      <a:pt x="1120686" y="342202"/>
                    </a:cubicBezTo>
                    <a:lnTo>
                      <a:pt x="75046" y="342202"/>
                    </a:lnTo>
                    <a:cubicBezTo>
                      <a:pt x="33599" y="342202"/>
                      <a:pt x="0" y="308602"/>
                      <a:pt x="0" y="267155"/>
                    </a:cubicBezTo>
                    <a:lnTo>
                      <a:pt x="0" y="75046"/>
                    </a:lnTo>
                    <a:cubicBezTo>
                      <a:pt x="0" y="55143"/>
                      <a:pt x="7907" y="36054"/>
                      <a:pt x="21981" y="21981"/>
                    </a:cubicBezTo>
                    <a:cubicBezTo>
                      <a:pt x="36054" y="7907"/>
                      <a:pt x="55143" y="0"/>
                      <a:pt x="75046" y="0"/>
                    </a:cubicBezTo>
                    <a:close/>
                  </a:path>
                </a:pathLst>
              </a:custGeom>
              <a:ln w="9525" cap="rnd">
                <a:solidFill>
                  <a:srgbClr val="E3E2DE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1195732" cy="3612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70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769596" y="407959"/>
              <a:ext cx="5475830" cy="1239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3500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TECHNICAL IMPLEMENTATION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0" y="6134150"/>
            <a:ext cx="5261266" cy="1067513"/>
            <a:chOff x="0" y="0"/>
            <a:chExt cx="7015022" cy="1423351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7015022" cy="1423351"/>
              <a:chOff x="0" y="0"/>
              <a:chExt cx="1195732" cy="242615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195732" cy="242615"/>
              </a:xfrm>
              <a:custGeom>
                <a:avLst/>
                <a:gdLst/>
                <a:ahLst/>
                <a:cxnLst/>
                <a:rect r="r" b="b" t="t" l="l"/>
                <a:pathLst>
                  <a:path h="242615" w="1195732">
                    <a:moveTo>
                      <a:pt x="75046" y="0"/>
                    </a:moveTo>
                    <a:lnTo>
                      <a:pt x="1120686" y="0"/>
                    </a:lnTo>
                    <a:cubicBezTo>
                      <a:pt x="1140589" y="0"/>
                      <a:pt x="1159678" y="7907"/>
                      <a:pt x="1173751" y="21981"/>
                    </a:cubicBezTo>
                    <a:cubicBezTo>
                      <a:pt x="1187825" y="36054"/>
                      <a:pt x="1195732" y="55143"/>
                      <a:pt x="1195732" y="75046"/>
                    </a:cubicBezTo>
                    <a:lnTo>
                      <a:pt x="1195732" y="167568"/>
                    </a:lnTo>
                    <a:cubicBezTo>
                      <a:pt x="1195732" y="209015"/>
                      <a:pt x="1162133" y="242615"/>
                      <a:pt x="1120686" y="242615"/>
                    </a:cubicBezTo>
                    <a:lnTo>
                      <a:pt x="75046" y="242615"/>
                    </a:lnTo>
                    <a:cubicBezTo>
                      <a:pt x="33599" y="242615"/>
                      <a:pt x="0" y="209015"/>
                      <a:pt x="0" y="167568"/>
                    </a:cubicBezTo>
                    <a:lnTo>
                      <a:pt x="0" y="75046"/>
                    </a:lnTo>
                    <a:cubicBezTo>
                      <a:pt x="0" y="55143"/>
                      <a:pt x="7907" y="36054"/>
                      <a:pt x="21981" y="21981"/>
                    </a:cubicBezTo>
                    <a:cubicBezTo>
                      <a:pt x="36054" y="7907"/>
                      <a:pt x="55143" y="0"/>
                      <a:pt x="75046" y="0"/>
                    </a:cubicBezTo>
                    <a:close/>
                  </a:path>
                </a:pathLst>
              </a:custGeom>
              <a:ln w="9525" cap="rnd">
                <a:solidFill>
                  <a:srgbClr val="E3E2DE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19050"/>
                <a:ext cx="1195732" cy="2616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7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769596" y="407934"/>
              <a:ext cx="5475830" cy="655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3500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BUSINESS VALUE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364517" y="1833744"/>
            <a:ext cx="5261266" cy="1067550"/>
            <a:chOff x="0" y="0"/>
            <a:chExt cx="7015022" cy="1423401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7015022" cy="1423401"/>
              <a:chOff x="0" y="0"/>
              <a:chExt cx="1195732" cy="24262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195732" cy="242623"/>
              </a:xfrm>
              <a:custGeom>
                <a:avLst/>
                <a:gdLst/>
                <a:ahLst/>
                <a:cxnLst/>
                <a:rect r="r" b="b" t="t" l="l"/>
                <a:pathLst>
                  <a:path h="242623" w="1195732">
                    <a:moveTo>
                      <a:pt x="75046" y="0"/>
                    </a:moveTo>
                    <a:lnTo>
                      <a:pt x="1120686" y="0"/>
                    </a:lnTo>
                    <a:cubicBezTo>
                      <a:pt x="1140589" y="0"/>
                      <a:pt x="1159678" y="7907"/>
                      <a:pt x="1173751" y="21981"/>
                    </a:cubicBezTo>
                    <a:cubicBezTo>
                      <a:pt x="1187825" y="36054"/>
                      <a:pt x="1195732" y="55143"/>
                      <a:pt x="1195732" y="75046"/>
                    </a:cubicBezTo>
                    <a:lnTo>
                      <a:pt x="1195732" y="167577"/>
                    </a:lnTo>
                    <a:cubicBezTo>
                      <a:pt x="1195732" y="209024"/>
                      <a:pt x="1162133" y="242623"/>
                      <a:pt x="1120686" y="242623"/>
                    </a:cubicBezTo>
                    <a:lnTo>
                      <a:pt x="75046" y="242623"/>
                    </a:lnTo>
                    <a:cubicBezTo>
                      <a:pt x="55143" y="242623"/>
                      <a:pt x="36054" y="234716"/>
                      <a:pt x="21981" y="220642"/>
                    </a:cubicBezTo>
                    <a:cubicBezTo>
                      <a:pt x="7907" y="206569"/>
                      <a:pt x="0" y="187480"/>
                      <a:pt x="0" y="167577"/>
                    </a:cubicBezTo>
                    <a:lnTo>
                      <a:pt x="0" y="75046"/>
                    </a:lnTo>
                    <a:cubicBezTo>
                      <a:pt x="0" y="55143"/>
                      <a:pt x="7907" y="36054"/>
                      <a:pt x="21981" y="21981"/>
                    </a:cubicBezTo>
                    <a:cubicBezTo>
                      <a:pt x="36054" y="7907"/>
                      <a:pt x="55143" y="0"/>
                      <a:pt x="75046" y="0"/>
                    </a:cubicBezTo>
                    <a:close/>
                  </a:path>
                </a:pathLst>
              </a:custGeom>
              <a:ln w="9525" cap="rnd">
                <a:solidFill>
                  <a:srgbClr val="E3E2DE"/>
                </a:solidFill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19050"/>
                <a:ext cx="1195732" cy="26167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70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351542" y="407959"/>
              <a:ext cx="6311939" cy="655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b="true" sz="3500">
                  <a:solidFill>
                    <a:srgbClr val="E3E2DE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THE SOLUTION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7045625" y="262575"/>
            <a:ext cx="552450" cy="979799"/>
            <a:chOff x="0" y="0"/>
            <a:chExt cx="189122" cy="3354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122" cy="335417"/>
            </a:xfrm>
            <a:custGeom>
              <a:avLst/>
              <a:gdLst/>
              <a:ahLst/>
              <a:cxnLst/>
              <a:rect r="r" b="b" t="t" l="l"/>
              <a:pathLst>
                <a:path h="335417" w="189122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39789" y="8911054"/>
            <a:ext cx="4773088" cy="694492"/>
            <a:chOff x="0" y="0"/>
            <a:chExt cx="2793096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3096" cy="406400"/>
            </a:xfrm>
            <a:custGeom>
              <a:avLst/>
              <a:gdLst/>
              <a:ahLst/>
              <a:cxnLst/>
              <a:rect r="r" b="b" t="t" l="l"/>
              <a:pathLst>
                <a:path h="406400" w="2793096">
                  <a:moveTo>
                    <a:pt x="2589896" y="0"/>
                  </a:moveTo>
                  <a:cubicBezTo>
                    <a:pt x="2702120" y="0"/>
                    <a:pt x="2793096" y="90976"/>
                    <a:pt x="2793096" y="203200"/>
                  </a:cubicBezTo>
                  <a:cubicBezTo>
                    <a:pt x="2793096" y="315424"/>
                    <a:pt x="2702120" y="406400"/>
                    <a:pt x="258989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793096" cy="377825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23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06158" y="2286000"/>
            <a:ext cx="5263807" cy="3483402"/>
          </a:xfrm>
          <a:custGeom>
            <a:avLst/>
            <a:gdLst/>
            <a:ahLst/>
            <a:cxnLst/>
            <a:rect r="r" b="b" t="t" l="l"/>
            <a:pathLst>
              <a:path h="3483402" w="5263807">
                <a:moveTo>
                  <a:pt x="0" y="0"/>
                </a:moveTo>
                <a:lnTo>
                  <a:pt x="5263807" y="0"/>
                </a:lnTo>
                <a:lnTo>
                  <a:pt x="5263807" y="3483402"/>
                </a:lnTo>
                <a:lnTo>
                  <a:pt x="0" y="3483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82440" y="3361550"/>
            <a:ext cx="5753513" cy="3943758"/>
          </a:xfrm>
          <a:custGeom>
            <a:avLst/>
            <a:gdLst/>
            <a:ahLst/>
            <a:cxnLst/>
            <a:rect r="r" b="b" t="t" l="l"/>
            <a:pathLst>
              <a:path h="3943758" w="5753513">
                <a:moveTo>
                  <a:pt x="0" y="0"/>
                </a:moveTo>
                <a:lnTo>
                  <a:pt x="5753513" y="0"/>
                </a:lnTo>
                <a:lnTo>
                  <a:pt x="5753513" y="3943758"/>
                </a:lnTo>
                <a:lnTo>
                  <a:pt x="0" y="3943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794624" y="6523852"/>
            <a:ext cx="6527227" cy="1777810"/>
          </a:xfrm>
          <a:custGeom>
            <a:avLst/>
            <a:gdLst/>
            <a:ahLst/>
            <a:cxnLst/>
            <a:rect r="r" b="b" t="t" l="l"/>
            <a:pathLst>
              <a:path h="1777810" w="6527227">
                <a:moveTo>
                  <a:pt x="0" y="0"/>
                </a:moveTo>
                <a:lnTo>
                  <a:pt x="6527226" y="0"/>
                </a:lnTo>
                <a:lnTo>
                  <a:pt x="6527226" y="1777811"/>
                </a:lnTo>
                <a:lnTo>
                  <a:pt x="0" y="17778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7696" y="276225"/>
            <a:ext cx="12078462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The 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30431"/>
            <a:ext cx="7639732" cy="435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7"/>
              </a:lnSpc>
            </a:pPr>
            <a:r>
              <a:rPr lang="en-US" sz="2398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A common problem people face is deciding what to wear, even when they have a full closet.</a:t>
            </a:r>
          </a:p>
          <a:p>
            <a:pPr algn="just">
              <a:lnSpc>
                <a:spcPts val="2877"/>
              </a:lnSpc>
            </a:pPr>
            <a:r>
              <a:rPr lang="en-US" sz="2398" strike="noStrike" u="none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 Users often feel like they have “nothing to wear” because they can’t visualize outfits.</a:t>
            </a:r>
          </a:p>
          <a:p>
            <a:pPr algn="just">
              <a:lnSpc>
                <a:spcPts val="2877"/>
              </a:lnSpc>
            </a:pPr>
            <a:r>
              <a:rPr lang="en-US" sz="2398" strike="noStrike" u="none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2398" strike="noStrike" u="none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here’s also no easy way to organize clothing digitally or generate outfit ideas automatically.</a:t>
            </a:r>
          </a:p>
          <a:p>
            <a:pPr algn="just">
              <a:lnSpc>
                <a:spcPts val="2877"/>
              </a:lnSpc>
            </a:pPr>
          </a:p>
          <a:p>
            <a:pPr algn="just">
              <a:lnSpc>
                <a:spcPts val="2877"/>
              </a:lnSpc>
            </a:pPr>
          </a:p>
          <a:p>
            <a:pPr algn="l" marL="517765" indent="-258882" lvl="1">
              <a:lnSpc>
                <a:spcPts val="2877"/>
              </a:lnSpc>
              <a:buFont typeface="Arial"/>
              <a:buChar char="•"/>
            </a:pPr>
            <a:r>
              <a:rPr lang="en-US" sz="2398" strike="noStrike" u="none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Hard to decide what to wear</a:t>
            </a:r>
          </a:p>
          <a:p>
            <a:pPr algn="l" marL="517765" indent="-258882" lvl="1">
              <a:lnSpc>
                <a:spcPts val="2877"/>
              </a:lnSpc>
              <a:buFont typeface="Arial"/>
              <a:buChar char="•"/>
            </a:pPr>
            <a:r>
              <a:rPr lang="en-US" sz="2398" strike="noStrike" u="none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Closet overload</a:t>
            </a:r>
          </a:p>
          <a:p>
            <a:pPr algn="l" marL="517765" indent="-258882" lvl="1">
              <a:lnSpc>
                <a:spcPts val="2877"/>
              </a:lnSpc>
              <a:buFont typeface="Arial"/>
              <a:buChar char="•"/>
            </a:pPr>
            <a:r>
              <a:rPr lang="en-US" sz="2398" strike="noStrike" u="none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Lack of outfit inspiration</a:t>
            </a:r>
          </a:p>
          <a:p>
            <a:pPr algn="l">
              <a:lnSpc>
                <a:spcPts val="2877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6831951" y="633413"/>
            <a:ext cx="97979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9"/>
              </a:lnSpc>
              <a:spcBef>
                <a:spcPct val="0"/>
              </a:spcBef>
            </a:pPr>
            <a:r>
              <a:rPr lang="en-US" b="true" sz="2499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39789" y="9125903"/>
            <a:ext cx="4773088" cy="36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89"/>
              </a:lnSpc>
              <a:spcBef>
                <a:spcPct val="0"/>
              </a:spcBef>
            </a:pPr>
            <a:r>
              <a:rPr lang="en-US" b="true" sz="2999" spc="-92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A FEW ONLINE QUERIES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250" y="276225"/>
            <a:ext cx="14078968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The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60386" y="2977743"/>
            <a:ext cx="7438179" cy="507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FitMatc</a:t>
            </a:r>
            <a:r>
              <a:rPr lang="en-US" sz="2399" strike="noStrike" u="none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h solves this by allowing users to upload their clothing items into a digital closet.</a:t>
            </a:r>
          </a:p>
          <a:p>
            <a:pPr algn="just">
              <a:lnSpc>
                <a:spcPts val="287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The app then generates complete outfits using those items.</a:t>
            </a:r>
          </a:p>
          <a:p>
            <a:pPr algn="just">
              <a:lnSpc>
                <a:spcPts val="287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Users can also save their favorite looks and explore outfits from other users.</a:t>
            </a:r>
          </a:p>
          <a:p>
            <a:pPr algn="just">
              <a:lnSpc>
                <a:spcPts val="287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What makes this unique is that the outfits are generated from your actual wardrobe, not generic suggestions.</a:t>
            </a:r>
          </a:p>
          <a:p>
            <a:pPr algn="just">
              <a:lnSpc>
                <a:spcPts val="2879"/>
              </a:lnSpc>
              <a:spcBef>
                <a:spcPct val="0"/>
              </a:spcBef>
            </a:pPr>
          </a:p>
          <a:p>
            <a:pPr algn="just">
              <a:lnSpc>
                <a:spcPts val="2879"/>
              </a:lnSpc>
              <a:spcBef>
                <a:spcPct val="0"/>
              </a:spcBef>
            </a:pPr>
          </a:p>
          <a:p>
            <a:pPr algn="l" marL="518155" indent="-259078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trike="noStrike" u="none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Upload your closet</a:t>
            </a:r>
          </a:p>
          <a:p>
            <a:pPr algn="l" marL="518155" indent="-259078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399" strike="noStrike" u="none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Generate outfits instantly</a:t>
            </a:r>
          </a:p>
          <a:p>
            <a:pPr algn="l" marL="518155" indent="-259078" lvl="1">
              <a:lnSpc>
                <a:spcPts val="2879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Save + explore looks</a:t>
            </a:r>
          </a:p>
        </p:txBody>
      </p:sp>
      <p:grpSp>
        <p:nvGrpSpPr>
          <p:cNvPr name="Group 4" id="4"/>
          <p:cNvGrpSpPr/>
          <p:nvPr/>
        </p:nvGrpSpPr>
        <p:grpSpPr>
          <a:xfrm rot="5400000">
            <a:off x="17045625" y="262575"/>
            <a:ext cx="552450" cy="979799"/>
            <a:chOff x="0" y="0"/>
            <a:chExt cx="189122" cy="3354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9122" cy="335417"/>
            </a:xfrm>
            <a:custGeom>
              <a:avLst/>
              <a:gdLst/>
              <a:ahLst/>
              <a:cxnLst/>
              <a:rect r="r" b="b" t="t" l="l"/>
              <a:pathLst>
                <a:path h="335417" w="189122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ln w="9525" cap="rnd">
              <a:solidFill>
                <a:srgbClr val="1351A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831951" y="633413"/>
            <a:ext cx="97979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9"/>
              </a:lnSpc>
              <a:spcBef>
                <a:spcPct val="0"/>
              </a:spcBef>
            </a:pPr>
            <a:r>
              <a:rPr lang="en-US" b="true" sz="2499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56512" y="2487153"/>
            <a:ext cx="6937833" cy="6937833"/>
            <a:chOff x="0" y="0"/>
            <a:chExt cx="13716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7994" y="0"/>
                  </a:moveTo>
                  <a:lnTo>
                    <a:pt x="6858008" y="0"/>
                  </a:lnTo>
                  <a:cubicBezTo>
                    <a:pt x="10645573" y="1"/>
                    <a:pt x="13716000" y="3070429"/>
                    <a:pt x="13716000" y="6857994"/>
                  </a:cubicBezTo>
                  <a:lnTo>
                    <a:pt x="13716000" y="13716000"/>
                  </a:lnTo>
                  <a:lnTo>
                    <a:pt x="0" y="13716000"/>
                  </a:lnTo>
                  <a:lnTo>
                    <a:pt x="0" y="6857994"/>
                  </a:lnTo>
                  <a:cubicBezTo>
                    <a:pt x="0" y="3070428"/>
                    <a:pt x="3070428" y="0"/>
                    <a:pt x="685799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-7897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5669" y="3840181"/>
            <a:ext cx="7742506" cy="694492"/>
            <a:chOff x="0" y="0"/>
            <a:chExt cx="453072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727" cy="406400"/>
            </a:xfrm>
            <a:custGeom>
              <a:avLst/>
              <a:gdLst/>
              <a:ahLst/>
              <a:cxnLst/>
              <a:rect r="r" b="b" t="t" l="l"/>
              <a:pathLst>
                <a:path h="406400" w="4530727">
                  <a:moveTo>
                    <a:pt x="4327527" y="0"/>
                  </a:moveTo>
                  <a:cubicBezTo>
                    <a:pt x="4439751" y="0"/>
                    <a:pt x="4530727" y="90976"/>
                    <a:pt x="4530727" y="203200"/>
                  </a:cubicBezTo>
                  <a:cubicBezTo>
                    <a:pt x="4530727" y="315424"/>
                    <a:pt x="4439751" y="406400"/>
                    <a:pt x="432752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4530727" cy="377825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23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5669" y="5140934"/>
            <a:ext cx="4395513" cy="694492"/>
            <a:chOff x="0" y="0"/>
            <a:chExt cx="2572148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72148" cy="406400"/>
            </a:xfrm>
            <a:custGeom>
              <a:avLst/>
              <a:gdLst/>
              <a:ahLst/>
              <a:cxnLst/>
              <a:rect r="r" b="b" t="t" l="l"/>
              <a:pathLst>
                <a:path h="406400" w="2572148">
                  <a:moveTo>
                    <a:pt x="2368948" y="0"/>
                  </a:moveTo>
                  <a:cubicBezTo>
                    <a:pt x="2481172" y="0"/>
                    <a:pt x="2572148" y="90976"/>
                    <a:pt x="2572148" y="203200"/>
                  </a:cubicBezTo>
                  <a:cubicBezTo>
                    <a:pt x="2572148" y="315424"/>
                    <a:pt x="2481172" y="406400"/>
                    <a:pt x="236894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2572148" cy="377825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23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75669" y="6559326"/>
            <a:ext cx="8148922" cy="694492"/>
            <a:chOff x="0" y="0"/>
            <a:chExt cx="4768552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68552" cy="406400"/>
            </a:xfrm>
            <a:custGeom>
              <a:avLst/>
              <a:gdLst/>
              <a:ahLst/>
              <a:cxnLst/>
              <a:rect r="r" b="b" t="t" l="l"/>
              <a:pathLst>
                <a:path h="406400" w="4768552">
                  <a:moveTo>
                    <a:pt x="4565352" y="0"/>
                  </a:moveTo>
                  <a:cubicBezTo>
                    <a:pt x="4677577" y="0"/>
                    <a:pt x="4768552" y="90976"/>
                    <a:pt x="4768552" y="203200"/>
                  </a:cubicBezTo>
                  <a:cubicBezTo>
                    <a:pt x="4768552" y="315424"/>
                    <a:pt x="4677577" y="406400"/>
                    <a:pt x="45653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4768552" cy="377825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23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7696" y="276225"/>
            <a:ext cx="16642653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Product 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0141" y="4055030"/>
            <a:ext cx="7330655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0"/>
              </a:lnSpc>
              <a:spcBef>
                <a:spcPct val="0"/>
              </a:spcBef>
            </a:pPr>
            <a:r>
              <a:rPr lang="en-US" b="true" sz="3000" spc="-93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CLOSET UPLOAD &amp; IMAGE 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0141" y="5355782"/>
            <a:ext cx="3890926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0"/>
              </a:lnSpc>
              <a:spcBef>
                <a:spcPct val="0"/>
              </a:spcBef>
            </a:pPr>
            <a:r>
              <a:rPr lang="en-US" b="true" sz="3000" spc="-93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OUTFIT GENERATOR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0141" y="6774174"/>
            <a:ext cx="7748566" cy="36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90"/>
              </a:lnSpc>
              <a:spcBef>
                <a:spcPct val="0"/>
              </a:spcBef>
            </a:pPr>
            <a:r>
              <a:rPr lang="en-US" b="true" sz="3000" spc="-93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FAVORITES PROFILE &amp; COMMUNITY FEED</a:t>
            </a:r>
          </a:p>
        </p:txBody>
      </p:sp>
      <p:grpSp>
        <p:nvGrpSpPr>
          <p:cNvPr name="Group 15" id="15"/>
          <p:cNvGrpSpPr/>
          <p:nvPr/>
        </p:nvGrpSpPr>
        <p:grpSpPr>
          <a:xfrm rot="5400000">
            <a:off x="17045625" y="262575"/>
            <a:ext cx="552450" cy="979799"/>
            <a:chOff x="0" y="0"/>
            <a:chExt cx="189122" cy="3354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9122" cy="335417"/>
            </a:xfrm>
            <a:custGeom>
              <a:avLst/>
              <a:gdLst/>
              <a:ahLst/>
              <a:cxnLst/>
              <a:rect r="r" b="b" t="t" l="l"/>
              <a:pathLst>
                <a:path h="335417" w="189122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831951" y="633413"/>
            <a:ext cx="97979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9"/>
              </a:lnSpc>
              <a:spcBef>
                <a:spcPct val="0"/>
              </a:spcBef>
            </a:pPr>
            <a:r>
              <a:rPr lang="en-US" b="true" sz="2499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04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289823" y="2465938"/>
            <a:ext cx="4876851" cy="6964004"/>
            <a:chOff x="0" y="0"/>
            <a:chExt cx="12749938" cy="182065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749938" cy="18206546"/>
            </a:xfrm>
            <a:custGeom>
              <a:avLst/>
              <a:gdLst/>
              <a:ahLst/>
              <a:cxnLst/>
              <a:rect r="r" b="b" t="t" l="l"/>
              <a:pathLst>
                <a:path h="18206546" w="12749938">
                  <a:moveTo>
                    <a:pt x="11693193" y="2003457"/>
                  </a:moveTo>
                  <a:lnTo>
                    <a:pt x="11509478" y="2003457"/>
                  </a:lnTo>
                  <a:lnTo>
                    <a:pt x="11509478" y="1798001"/>
                  </a:lnTo>
                  <a:cubicBezTo>
                    <a:pt x="11509478" y="1321141"/>
                    <a:pt x="11376821" y="863812"/>
                    <a:pt x="11140687" y="526621"/>
                  </a:cubicBezTo>
                  <a:cubicBezTo>
                    <a:pt x="10904555" y="189430"/>
                    <a:pt x="10584290" y="-1"/>
                    <a:pt x="10250347" y="0"/>
                  </a:cubicBezTo>
                  <a:lnTo>
                    <a:pt x="2499590" y="0"/>
                  </a:lnTo>
                  <a:cubicBezTo>
                    <a:pt x="2165648" y="0"/>
                    <a:pt x="1845383" y="189431"/>
                    <a:pt x="1609250" y="526622"/>
                  </a:cubicBezTo>
                  <a:cubicBezTo>
                    <a:pt x="1373117" y="863812"/>
                    <a:pt x="1240459" y="1321141"/>
                    <a:pt x="1240459" y="1798001"/>
                  </a:cubicBezTo>
                  <a:lnTo>
                    <a:pt x="1240459" y="2003457"/>
                  </a:lnTo>
                  <a:lnTo>
                    <a:pt x="1056744" y="2003457"/>
                  </a:lnTo>
                  <a:cubicBezTo>
                    <a:pt x="776478" y="2003457"/>
                    <a:pt x="507691" y="2162440"/>
                    <a:pt x="309513" y="2445433"/>
                  </a:cubicBezTo>
                  <a:cubicBezTo>
                    <a:pt x="111335" y="2728426"/>
                    <a:pt x="0" y="3112247"/>
                    <a:pt x="0" y="3512459"/>
                  </a:cubicBezTo>
                  <a:lnTo>
                    <a:pt x="0" y="14694088"/>
                  </a:lnTo>
                  <a:cubicBezTo>
                    <a:pt x="0" y="15094299"/>
                    <a:pt x="111335" y="15478120"/>
                    <a:pt x="309513" y="15761112"/>
                  </a:cubicBezTo>
                  <a:cubicBezTo>
                    <a:pt x="507691" y="16044104"/>
                    <a:pt x="776478" y="16203089"/>
                    <a:pt x="1056744" y="16203087"/>
                  </a:cubicBezTo>
                  <a:lnTo>
                    <a:pt x="1240459" y="16203087"/>
                  </a:lnTo>
                  <a:lnTo>
                    <a:pt x="1240459" y="16408544"/>
                  </a:lnTo>
                  <a:cubicBezTo>
                    <a:pt x="1240460" y="17401553"/>
                    <a:pt x="1804192" y="18206546"/>
                    <a:pt x="2499590" y="18206546"/>
                  </a:cubicBezTo>
                  <a:lnTo>
                    <a:pt x="10250347" y="18206546"/>
                  </a:lnTo>
                  <a:cubicBezTo>
                    <a:pt x="10584290" y="18206546"/>
                    <a:pt x="10904555" y="18017114"/>
                    <a:pt x="11140687" y="17679925"/>
                  </a:cubicBezTo>
                  <a:cubicBezTo>
                    <a:pt x="11376820" y="17342734"/>
                    <a:pt x="11509478" y="16885405"/>
                    <a:pt x="11509478" y="16408544"/>
                  </a:cubicBezTo>
                  <a:lnTo>
                    <a:pt x="11509478" y="16203087"/>
                  </a:lnTo>
                  <a:lnTo>
                    <a:pt x="11693193" y="16203087"/>
                  </a:lnTo>
                  <a:cubicBezTo>
                    <a:pt x="11973460" y="16203087"/>
                    <a:pt x="12242247" y="16044104"/>
                    <a:pt x="12440425" y="15761111"/>
                  </a:cubicBezTo>
                  <a:cubicBezTo>
                    <a:pt x="12638602" y="15478120"/>
                    <a:pt x="12749938" y="15094299"/>
                    <a:pt x="12749938" y="14694088"/>
                  </a:cubicBezTo>
                  <a:lnTo>
                    <a:pt x="12749938" y="3512459"/>
                  </a:lnTo>
                  <a:cubicBezTo>
                    <a:pt x="12749938" y="3112247"/>
                    <a:pt x="12638602" y="2728426"/>
                    <a:pt x="12440425" y="2445433"/>
                  </a:cubicBezTo>
                  <a:cubicBezTo>
                    <a:pt x="12242247" y="2162441"/>
                    <a:pt x="11973460" y="2003457"/>
                    <a:pt x="11693193" y="2003457"/>
                  </a:cubicBezTo>
                  <a:close/>
                </a:path>
              </a:pathLst>
            </a:custGeom>
            <a:blipFill>
              <a:blip r:embed="rId2"/>
              <a:stretch>
                <a:fillRect l="-5602" t="0" r="-43144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3E2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2513" y="4499220"/>
            <a:ext cx="5785341" cy="5167461"/>
            <a:chOff x="0" y="0"/>
            <a:chExt cx="18043892" cy="161167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043892" cy="16116788"/>
            </a:xfrm>
            <a:custGeom>
              <a:avLst/>
              <a:gdLst/>
              <a:ahLst/>
              <a:cxnLst/>
              <a:rect r="r" b="b" t="t" l="l"/>
              <a:pathLst>
                <a:path h="16116788" w="18043892">
                  <a:moveTo>
                    <a:pt x="16548373" y="1773499"/>
                  </a:moveTo>
                  <a:lnTo>
                    <a:pt x="16288376" y="1773499"/>
                  </a:lnTo>
                  <a:lnTo>
                    <a:pt x="16288376" y="1591625"/>
                  </a:lnTo>
                  <a:cubicBezTo>
                    <a:pt x="16288376" y="1169500"/>
                    <a:pt x="16100637" y="764663"/>
                    <a:pt x="15766459" y="466175"/>
                  </a:cubicBezTo>
                  <a:cubicBezTo>
                    <a:pt x="15432280" y="167687"/>
                    <a:pt x="14979036" y="-1"/>
                    <a:pt x="14506437" y="0"/>
                  </a:cubicBezTo>
                  <a:lnTo>
                    <a:pt x="3537455" y="0"/>
                  </a:lnTo>
                  <a:cubicBezTo>
                    <a:pt x="3064855" y="0"/>
                    <a:pt x="2611612" y="167688"/>
                    <a:pt x="2277433" y="466176"/>
                  </a:cubicBezTo>
                  <a:cubicBezTo>
                    <a:pt x="1943255" y="764663"/>
                    <a:pt x="1755515" y="1169500"/>
                    <a:pt x="1755515" y="1591625"/>
                  </a:cubicBezTo>
                  <a:lnTo>
                    <a:pt x="1755515" y="1773499"/>
                  </a:lnTo>
                  <a:lnTo>
                    <a:pt x="1495520" y="1773499"/>
                  </a:lnTo>
                  <a:cubicBezTo>
                    <a:pt x="1098883" y="1773499"/>
                    <a:pt x="718491" y="1914234"/>
                    <a:pt x="438027" y="2164745"/>
                  </a:cubicBezTo>
                  <a:cubicBezTo>
                    <a:pt x="157563" y="2415256"/>
                    <a:pt x="0" y="2755022"/>
                    <a:pt x="0" y="3109297"/>
                  </a:cubicBezTo>
                  <a:lnTo>
                    <a:pt x="0" y="13007491"/>
                  </a:lnTo>
                  <a:cubicBezTo>
                    <a:pt x="0" y="13361766"/>
                    <a:pt x="157563" y="13701533"/>
                    <a:pt x="438027" y="13952043"/>
                  </a:cubicBezTo>
                  <a:cubicBezTo>
                    <a:pt x="718491" y="14202553"/>
                    <a:pt x="1098883" y="14343289"/>
                    <a:pt x="1495520" y="14343287"/>
                  </a:cubicBezTo>
                  <a:lnTo>
                    <a:pt x="1755515" y="14343287"/>
                  </a:lnTo>
                  <a:lnTo>
                    <a:pt x="1755515" y="14525163"/>
                  </a:lnTo>
                  <a:cubicBezTo>
                    <a:pt x="1755516" y="15404193"/>
                    <a:pt x="2553318" y="16116788"/>
                    <a:pt x="3537455" y="16116788"/>
                  </a:cubicBezTo>
                  <a:lnTo>
                    <a:pt x="14506437" y="16116788"/>
                  </a:lnTo>
                  <a:cubicBezTo>
                    <a:pt x="14979036" y="16116788"/>
                    <a:pt x="15432280" y="15949099"/>
                    <a:pt x="15766459" y="15650614"/>
                  </a:cubicBezTo>
                  <a:cubicBezTo>
                    <a:pt x="16100637" y="15352125"/>
                    <a:pt x="16288376" y="14947288"/>
                    <a:pt x="16288376" y="14525163"/>
                  </a:cubicBezTo>
                  <a:lnTo>
                    <a:pt x="16288376" y="14343287"/>
                  </a:lnTo>
                  <a:lnTo>
                    <a:pt x="16548373" y="14343287"/>
                  </a:lnTo>
                  <a:cubicBezTo>
                    <a:pt x="16945009" y="14343287"/>
                    <a:pt x="17325400" y="14202552"/>
                    <a:pt x="17605866" y="13952041"/>
                  </a:cubicBezTo>
                  <a:cubicBezTo>
                    <a:pt x="17886330" y="13701533"/>
                    <a:pt x="18043892" y="13361766"/>
                    <a:pt x="18043892" y="13007491"/>
                  </a:cubicBezTo>
                  <a:lnTo>
                    <a:pt x="18043892" y="3109297"/>
                  </a:lnTo>
                  <a:cubicBezTo>
                    <a:pt x="18043892" y="2755022"/>
                    <a:pt x="17886330" y="2415256"/>
                    <a:pt x="17605866" y="2164745"/>
                  </a:cubicBezTo>
                  <a:cubicBezTo>
                    <a:pt x="17325400" y="1914235"/>
                    <a:pt x="16945009" y="1773499"/>
                    <a:pt x="16548373" y="1773499"/>
                  </a:cubicBezTo>
                  <a:close/>
                </a:path>
              </a:pathLst>
            </a:custGeom>
            <a:blipFill>
              <a:blip r:embed="rId2"/>
              <a:stretch>
                <a:fillRect l="0" t="-240" r="0" b="-24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76250" y="276225"/>
            <a:ext cx="15030844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1351AA"/>
                </a:solidFill>
                <a:latin typeface="Aileron Heavy"/>
                <a:ea typeface="Aileron Heavy"/>
                <a:cs typeface="Aileron Heavy"/>
                <a:sym typeface="Aileron Heavy"/>
              </a:rPr>
              <a:t>Technical Implementation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86824" y="5716191"/>
            <a:ext cx="6850128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2499" strike="noStrike" u="none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eact frontend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Node.js + Express backend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MongoDB database</a:t>
            </a: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1351AA"/>
                </a:solidFill>
                <a:latin typeface="Work Sans"/>
                <a:ea typeface="Work Sans"/>
                <a:cs typeface="Work Sans"/>
                <a:sym typeface="Work Sans"/>
              </a:rPr>
              <a:t>Image processing (Sharp + rembg)</a:t>
            </a:r>
          </a:p>
          <a:p>
            <a:pPr algn="l">
              <a:lnSpc>
                <a:spcPts val="299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5400000">
            <a:off x="17045625" y="262575"/>
            <a:ext cx="552450" cy="979799"/>
            <a:chOff x="0" y="0"/>
            <a:chExt cx="189122" cy="3354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122" cy="335417"/>
            </a:xfrm>
            <a:custGeom>
              <a:avLst/>
              <a:gdLst/>
              <a:ahLst/>
              <a:cxnLst/>
              <a:rect r="r" b="b" t="t" l="l"/>
              <a:pathLst>
                <a:path h="335417" w="189122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ln w="9525" cap="rnd">
              <a:solidFill>
                <a:srgbClr val="1351AA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831951" y="633413"/>
            <a:ext cx="97979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9"/>
              </a:lnSpc>
              <a:spcBef>
                <a:spcPct val="0"/>
              </a:spcBef>
            </a:pPr>
            <a:r>
              <a:rPr lang="en-US" b="true" sz="2499">
                <a:solidFill>
                  <a:srgbClr val="1351AA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7696" y="276225"/>
            <a:ext cx="14279849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0"/>
              </a:lnSpc>
            </a:pPr>
            <a:r>
              <a:rPr lang="en-US" sz="15000" spc="-825" b="true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Business Value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90378" y="5397581"/>
            <a:ext cx="2773329" cy="215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19"/>
              </a:lnSpc>
              <a:spcBef>
                <a:spcPct val="0"/>
              </a:spcBef>
            </a:pPr>
            <a:r>
              <a:rPr lang="en-US" sz="219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This product would be useful for students, young adults, and any</a:t>
            </a:r>
            <a:r>
              <a:rPr lang="en-US" sz="2199" strike="noStrike" u="none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one interested in fashion or organization.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809729" y="2645387"/>
            <a:ext cx="3334628" cy="2498926"/>
            <a:chOff x="0" y="0"/>
            <a:chExt cx="1951343" cy="14623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1343" cy="1462311"/>
            </a:xfrm>
            <a:custGeom>
              <a:avLst/>
              <a:gdLst/>
              <a:ahLst/>
              <a:cxnLst/>
              <a:rect r="r" b="b" t="t" l="l"/>
              <a:pathLst>
                <a:path h="1462311" w="1951343">
                  <a:moveTo>
                    <a:pt x="1748143" y="0"/>
                  </a:moveTo>
                  <a:cubicBezTo>
                    <a:pt x="1860368" y="0"/>
                    <a:pt x="1951343" y="327349"/>
                    <a:pt x="1951343" y="731155"/>
                  </a:cubicBezTo>
                  <a:cubicBezTo>
                    <a:pt x="1951343" y="1134961"/>
                    <a:pt x="1860368" y="1462311"/>
                    <a:pt x="1748143" y="1462311"/>
                  </a:cubicBezTo>
                  <a:lnTo>
                    <a:pt x="203200" y="1462311"/>
                  </a:lnTo>
                  <a:cubicBezTo>
                    <a:pt x="90976" y="1462311"/>
                    <a:pt x="0" y="1134961"/>
                    <a:pt x="0" y="731155"/>
                  </a:cubicBezTo>
                  <a:cubicBezTo>
                    <a:pt x="0" y="327349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1951343" cy="1424211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3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257542" y="2867025"/>
            <a:ext cx="243900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TARGET USERS: STUDENTS, YOUNG ADULTS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43903" y="7411085"/>
            <a:ext cx="3200194" cy="184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19"/>
              </a:lnSpc>
              <a:spcBef>
                <a:spcPct val="0"/>
              </a:spcBef>
            </a:pPr>
            <a:r>
              <a:rPr lang="en-US" sz="219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It has strong pot</a:t>
            </a:r>
            <a:r>
              <a:rPr lang="en-US" sz="2199" strike="noStrike" u="none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ential for growth, such as integrating with online shopping, AI recommendations, or social features.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476686" y="6468826"/>
            <a:ext cx="3334628" cy="694492"/>
            <a:chOff x="0" y="0"/>
            <a:chExt cx="1951343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1343" cy="406400"/>
            </a:xfrm>
            <a:custGeom>
              <a:avLst/>
              <a:gdLst/>
              <a:ahLst/>
              <a:cxnLst/>
              <a:rect r="r" b="b" t="t" l="l"/>
              <a:pathLst>
                <a:path h="406400" w="1951343">
                  <a:moveTo>
                    <a:pt x="1748143" y="0"/>
                  </a:moveTo>
                  <a:cubicBezTo>
                    <a:pt x="1860368" y="0"/>
                    <a:pt x="1951343" y="90976"/>
                    <a:pt x="1951343" y="203200"/>
                  </a:cubicBezTo>
                  <a:cubicBezTo>
                    <a:pt x="1951343" y="315424"/>
                    <a:pt x="1860368" y="406400"/>
                    <a:pt x="17481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38100"/>
              <a:ext cx="1951343" cy="368300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3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607794" y="6596997"/>
            <a:ext cx="307241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SCALABLE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63976" y="5045057"/>
            <a:ext cx="2293962" cy="154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19"/>
              </a:lnSpc>
              <a:spcBef>
                <a:spcPct val="0"/>
              </a:spcBef>
            </a:pPr>
            <a:r>
              <a:rPr lang="en-US" sz="2199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Potential to expand into a full styling platform or fashion app.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43644" y="3056988"/>
            <a:ext cx="3334628" cy="1734623"/>
            <a:chOff x="0" y="0"/>
            <a:chExt cx="1951343" cy="10150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1343" cy="1015059"/>
            </a:xfrm>
            <a:custGeom>
              <a:avLst/>
              <a:gdLst/>
              <a:ahLst/>
              <a:cxnLst/>
              <a:rect r="r" b="b" t="t" l="l"/>
              <a:pathLst>
                <a:path h="1015059" w="1951343">
                  <a:moveTo>
                    <a:pt x="1748143" y="0"/>
                  </a:moveTo>
                  <a:cubicBezTo>
                    <a:pt x="1860368" y="0"/>
                    <a:pt x="1951343" y="227229"/>
                    <a:pt x="1951343" y="507530"/>
                  </a:cubicBezTo>
                  <a:cubicBezTo>
                    <a:pt x="1951343" y="787831"/>
                    <a:pt x="1860368" y="1015059"/>
                    <a:pt x="1748143" y="1015059"/>
                  </a:cubicBezTo>
                  <a:lnTo>
                    <a:pt x="203200" y="1015059"/>
                  </a:lnTo>
                  <a:cubicBezTo>
                    <a:pt x="90976" y="1015059"/>
                    <a:pt x="0" y="787831"/>
                    <a:pt x="0" y="507530"/>
                  </a:cubicBezTo>
                  <a:cubicBezTo>
                    <a:pt x="0" y="227229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E3E2DE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38100"/>
              <a:ext cx="1951343" cy="976959"/>
            </a:xfrm>
            <a:prstGeom prst="rect">
              <a:avLst/>
            </a:prstGeom>
          </p:spPr>
          <p:txBody>
            <a:bodyPr anchor="ctr" rtlCol="false" tIns="53951" lIns="53951" bIns="53951" rIns="53951"/>
            <a:lstStyle/>
            <a:p>
              <a:pPr algn="ctr" marL="0" indent="0" lvl="0">
                <a:lnSpc>
                  <a:spcPts val="30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450036" y="3286125"/>
            <a:ext cx="2721844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00"/>
              </a:lnSpc>
              <a:spcBef>
                <a:spcPct val="0"/>
              </a:spcBef>
            </a:pPr>
            <a:r>
              <a:rPr lang="en-US" b="true" sz="3000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POTENTIAL FASHION INTEGRATION</a:t>
            </a:r>
          </a:p>
        </p:txBody>
      </p:sp>
      <p:sp>
        <p:nvSpPr>
          <p:cNvPr name="AutoShape 18" id="18"/>
          <p:cNvSpPr/>
          <p:nvPr/>
        </p:nvSpPr>
        <p:spPr>
          <a:xfrm>
            <a:off x="6144356" y="3894850"/>
            <a:ext cx="1332330" cy="2921222"/>
          </a:xfrm>
          <a:prstGeom prst="line">
            <a:avLst/>
          </a:prstGeom>
          <a:ln cap="flat" w="19050">
            <a:solidFill>
              <a:srgbClr val="E3E2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H="true">
            <a:off x="10811314" y="3924300"/>
            <a:ext cx="1332330" cy="2891772"/>
          </a:xfrm>
          <a:prstGeom prst="line">
            <a:avLst/>
          </a:prstGeom>
          <a:ln cap="flat" w="19050">
            <a:solidFill>
              <a:srgbClr val="E3E2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5400000">
            <a:off x="17045625" y="262575"/>
            <a:ext cx="552450" cy="979799"/>
            <a:chOff x="0" y="0"/>
            <a:chExt cx="189122" cy="3354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9122" cy="335417"/>
            </a:xfrm>
            <a:custGeom>
              <a:avLst/>
              <a:gdLst/>
              <a:ahLst/>
              <a:cxnLst/>
              <a:rect r="r" b="b" t="t" l="l"/>
              <a:pathLst>
                <a:path h="335417" w="189122">
                  <a:moveTo>
                    <a:pt x="94561" y="0"/>
                  </a:moveTo>
                  <a:lnTo>
                    <a:pt x="94561" y="0"/>
                  </a:lnTo>
                  <a:cubicBezTo>
                    <a:pt x="146785" y="0"/>
                    <a:pt x="189122" y="42336"/>
                    <a:pt x="189122" y="94561"/>
                  </a:cubicBezTo>
                  <a:lnTo>
                    <a:pt x="189122" y="240856"/>
                  </a:lnTo>
                  <a:cubicBezTo>
                    <a:pt x="189122" y="265936"/>
                    <a:pt x="179159" y="289988"/>
                    <a:pt x="161425" y="307721"/>
                  </a:cubicBezTo>
                  <a:cubicBezTo>
                    <a:pt x="143692" y="325455"/>
                    <a:pt x="119640" y="335417"/>
                    <a:pt x="94561" y="335417"/>
                  </a:cubicBezTo>
                  <a:lnTo>
                    <a:pt x="94561" y="335417"/>
                  </a:lnTo>
                  <a:cubicBezTo>
                    <a:pt x="42336" y="335417"/>
                    <a:pt x="0" y="293081"/>
                    <a:pt x="0" y="240856"/>
                  </a:cubicBezTo>
                  <a:lnTo>
                    <a:pt x="0" y="94561"/>
                  </a:lnTo>
                  <a:cubicBezTo>
                    <a:pt x="0" y="69482"/>
                    <a:pt x="9963" y="45430"/>
                    <a:pt x="27696" y="27696"/>
                  </a:cubicBezTo>
                  <a:cubicBezTo>
                    <a:pt x="45430" y="9963"/>
                    <a:pt x="69482" y="0"/>
                    <a:pt x="94561" y="0"/>
                  </a:cubicBezTo>
                  <a:close/>
                </a:path>
              </a:pathLst>
            </a:custGeom>
            <a:ln w="9525" cap="rnd">
              <a:solidFill>
                <a:srgbClr val="E3E2DE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89122" cy="3449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4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6831951" y="633413"/>
            <a:ext cx="97979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9"/>
              </a:lnSpc>
              <a:spcBef>
                <a:spcPct val="0"/>
              </a:spcBef>
            </a:pPr>
            <a:r>
              <a:rPr lang="en-US" b="true" sz="2499">
                <a:solidFill>
                  <a:srgbClr val="E3E2D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351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3505" y="3169455"/>
            <a:ext cx="10140991" cy="39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b="true" sz="15000" spc="-825">
                <a:solidFill>
                  <a:srgbClr val="E3E2DE"/>
                </a:solidFill>
                <a:latin typeface="Aileron Heavy"/>
                <a:ea typeface="Aileron Heavy"/>
                <a:cs typeface="Aileron Heavy"/>
                <a:sym typeface="Aileron Heavy"/>
              </a:rPr>
              <a:t>Conclusion &amp; Demo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18642" y="7314644"/>
            <a:ext cx="725071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1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E3E2DE"/>
                </a:solidFill>
                <a:latin typeface="Work Sans"/>
                <a:ea typeface="Work Sans"/>
                <a:cs typeface="Work Sans"/>
                <a:sym typeface="Work Sans"/>
              </a:rPr>
              <a:t>https://shark-tank-final-project.vercel.app/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DAHEo0ZPPQE</dc:identifier>
  <dcterms:modified xsi:type="dcterms:W3CDTF">2011-08-01T06:04:30Z</dcterms:modified>
  <cp:revision>1</cp:revision>
  <dc:title>CS 341 Shark Tank Presentation</dc:title>
</cp:coreProperties>
</file>